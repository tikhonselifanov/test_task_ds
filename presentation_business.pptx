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6342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rPr dirty="0"/>
              <a:t>МОДЕЛЬ ПРЕДСКАЗАНИЯ КРЕДИТНОГО ДЕФОЛТА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2582" y="685800"/>
            <a:ext cx="52438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latin typeface="Arial"/>
              </a:defRPr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lang="ru-RU" dirty="0"/>
              <a:t>модели на ограниченном наборе данных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1211890"/>
            <a:ext cx="5486400" cy="1371600"/>
          </a:xfrm>
          <a:prstGeom prst="rect">
            <a:avLst/>
          </a:prstGeom>
          <a:solidFill>
            <a:srgbClr val="E6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ПОСТАВЛЕННАЯ ЗАДАЧА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2000" dirty="0" err="1">
                <a:solidFill>
                  <a:schemeClr val="tx1"/>
                </a:solidFill>
                <a:latin typeface="Arial"/>
              </a:rPr>
              <a:t>Разработать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систему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автоматической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оценки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риска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дефолта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при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выдаче</a:t>
            </a:r>
            <a:r>
              <a:rPr sz="2000" dirty="0">
                <a:solidFill>
                  <a:schemeClr val="tx1"/>
                </a:solidFill>
                <a:latin typeface="Arial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rial"/>
              </a:rPr>
              <a:t>кредитов</a:t>
            </a:r>
            <a:endParaRPr sz="2000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2885313"/>
            <a:ext cx="5486400" cy="1503485"/>
          </a:xfrm>
          <a:prstGeom prst="rect">
            <a:avLst/>
          </a:prstGeom>
          <a:solidFill>
            <a:srgbClr val="E6FFE6"/>
          </a:solidFill>
          <a:ln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ЧТО МОДЕЛЬ УМЕЕТ ДЕЛАТЬ</a:t>
            </a:r>
            <a:endParaRPr lang="ru-RU" dirty="0">
              <a:solidFill>
                <a:schemeClr val="tx1"/>
              </a:solidFill>
            </a:endParaRPr>
          </a:p>
          <a:p>
            <a:pPr algn="ctr">
              <a:defRPr sz="1400" b="1">
                <a:latin typeface="Arial"/>
              </a:defRPr>
            </a:pPr>
            <a:endParaRPr lang="ru-RU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Автоматически оценивать каждого нового клиента по шкале риска от 0 до 1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latin typeface="Arial"/>
              </a:defRPr>
            </a:pPr>
            <a:r>
              <a:rPr dirty="0" err="1">
                <a:solidFill>
                  <a:schemeClr val="tx1"/>
                </a:solidFill>
              </a:rPr>
              <a:t>Выявлять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клиентов</a:t>
            </a:r>
            <a:r>
              <a:rPr dirty="0">
                <a:solidFill>
                  <a:schemeClr val="tx1"/>
                </a:solidFill>
              </a:rPr>
              <a:t> с </a:t>
            </a:r>
            <a:r>
              <a:rPr dirty="0" err="1">
                <a:solidFill>
                  <a:schemeClr val="tx1"/>
                </a:solidFill>
              </a:rPr>
              <a:t>высоким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риском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дефолта</a:t>
            </a:r>
            <a:r>
              <a:rPr dirty="0">
                <a:solidFill>
                  <a:schemeClr val="tx1"/>
                </a:solidFill>
              </a:rPr>
              <a:t> (</a:t>
            </a:r>
            <a:r>
              <a:rPr dirty="0" err="1">
                <a:solidFill>
                  <a:schemeClr val="tx1"/>
                </a:solidFill>
              </a:rPr>
              <a:t>точность</a:t>
            </a:r>
            <a:r>
              <a:rPr dirty="0">
                <a:solidFill>
                  <a:schemeClr val="tx1"/>
                </a:solidFill>
              </a:rPr>
              <a:t> 34%)</a:t>
            </a: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latin typeface="Arial"/>
              </a:defRPr>
            </a:pPr>
            <a:r>
              <a:rPr dirty="0" err="1">
                <a:solidFill>
                  <a:schemeClr val="tx1"/>
                </a:solidFill>
              </a:rPr>
              <a:t>Стабильно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работать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времени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без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ухудшения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качества</a:t>
            </a:r>
            <a:endParaRPr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latin typeface="Arial"/>
              </a:defRPr>
            </a:pPr>
            <a:r>
              <a:rPr dirty="0" err="1">
                <a:solidFill>
                  <a:schemeClr val="tx1"/>
                </a:solidFill>
              </a:rPr>
              <a:t>Объяснять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какие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факторы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влияют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на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риск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конкретного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клиента</a:t>
            </a:r>
            <a:endParaRPr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00">
                <a:latin typeface="Arial"/>
              </a:defRPr>
            </a:pPr>
            <a:r>
              <a:rPr dirty="0" err="1">
                <a:solidFill>
                  <a:schemeClr val="tx1"/>
                </a:solidFill>
              </a:rPr>
              <a:t>Автоматически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отклонять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заведомо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рискованные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заявки</a:t>
            </a:r>
            <a:r>
              <a:rPr dirty="0">
                <a:solidFill>
                  <a:schemeClr val="tx1"/>
                </a:solidFill>
              </a:rPr>
              <a:t> (</a:t>
            </a:r>
            <a:r>
              <a:rPr dirty="0" err="1">
                <a:solidFill>
                  <a:schemeClr val="tx1"/>
                </a:solidFill>
              </a:rPr>
              <a:t>платёж</a:t>
            </a:r>
            <a:r>
              <a:rPr dirty="0">
                <a:solidFill>
                  <a:schemeClr val="tx1"/>
                </a:solidFill>
              </a:rPr>
              <a:t> &gt; 50% </a:t>
            </a:r>
            <a:r>
              <a:rPr dirty="0" err="1">
                <a:solidFill>
                  <a:schemeClr val="tx1"/>
                </a:solidFill>
              </a:rPr>
              <a:t>дохода</a:t>
            </a:r>
            <a:r>
              <a:rPr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72291"/>
            <a:ext cx="5486400" cy="1402838"/>
          </a:xfrm>
          <a:prstGeom prst="rect">
            <a:avLst/>
          </a:prstGeom>
          <a:solidFill>
            <a:srgbClr val="FFFAE6"/>
          </a:solidFill>
          <a:ln>
            <a:solidFill>
              <a:srgbClr val="C8A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КЛЮЧЕВЫЕ ФАКТОРЫ РИСКА (</a:t>
            </a:r>
            <a:r>
              <a:rPr dirty="0" err="1">
                <a:solidFill>
                  <a:schemeClr val="tx1"/>
                </a:solidFill>
              </a:rPr>
              <a:t>по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важности</a:t>
            </a:r>
            <a:r>
              <a:rPr dirty="0">
                <a:solidFill>
                  <a:schemeClr val="tx1"/>
                </a:solidFill>
              </a:rPr>
              <a:t>)</a:t>
            </a:r>
          </a:p>
          <a:p>
            <a:br>
              <a:rPr sz="1000" dirty="0">
                <a:solidFill>
                  <a:schemeClr val="tx1"/>
                </a:solidFill>
                <a:latin typeface="Arial"/>
              </a:rPr>
            </a:br>
            <a:r>
              <a:rPr sz="1000" dirty="0">
                <a:solidFill>
                  <a:schemeClr val="tx1"/>
                </a:solidFill>
                <a:latin typeface="Arial"/>
              </a:rPr>
              <a:t>1. </a:t>
            </a:r>
            <a:r>
              <a:rPr sz="1000" dirty="0" err="1">
                <a:solidFill>
                  <a:schemeClr val="tx1"/>
                </a:solidFill>
                <a:latin typeface="Arial"/>
              </a:rPr>
              <a:t>Тип</a:t>
            </a:r>
            <a:r>
              <a:rPr sz="1000" dirty="0">
                <a:solidFill>
                  <a:schemeClr val="tx1"/>
                </a:solidFill>
                <a:latin typeface="Arial"/>
              </a:rPr>
              <a:t> </a:t>
            </a:r>
            <a:r>
              <a:rPr sz="1000" dirty="0" err="1">
                <a:solidFill>
                  <a:schemeClr val="tx1"/>
                </a:solidFill>
                <a:latin typeface="Arial"/>
              </a:rPr>
              <a:t>покупаемого</a:t>
            </a:r>
            <a:r>
              <a:rPr sz="1000" dirty="0">
                <a:solidFill>
                  <a:schemeClr val="tx1"/>
                </a:solidFill>
                <a:latin typeface="Arial"/>
              </a:rPr>
              <a:t> </a:t>
            </a:r>
            <a:r>
              <a:rPr sz="1000" dirty="0" err="1">
                <a:solidFill>
                  <a:schemeClr val="tx1"/>
                </a:solidFill>
                <a:latin typeface="Arial"/>
              </a:rPr>
              <a:t>товара</a:t>
            </a:r>
            <a:endParaRPr sz="1000" dirty="0">
              <a:solidFill>
                <a:schemeClr val="tx1"/>
              </a:solidFill>
              <a:latin typeface="Arial"/>
            </a:endParaRPr>
          </a:p>
          <a:p>
            <a:pPr>
              <a:defRPr sz="1000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2. </a:t>
            </a:r>
            <a:r>
              <a:rPr dirty="0" err="1">
                <a:solidFill>
                  <a:schemeClr val="tx1"/>
                </a:solidFill>
              </a:rPr>
              <a:t>Срок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кредита</a:t>
            </a:r>
            <a:endParaRPr dirty="0">
              <a:solidFill>
                <a:schemeClr val="tx1"/>
              </a:solidFill>
            </a:endParaRPr>
          </a:p>
          <a:p>
            <a:pPr>
              <a:defRPr sz="1000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3. </a:t>
            </a:r>
            <a:r>
              <a:rPr dirty="0" err="1">
                <a:solidFill>
                  <a:schemeClr val="tx1"/>
                </a:solidFill>
              </a:rPr>
              <a:t>Уровень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образования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клиента</a:t>
            </a:r>
            <a:endParaRPr dirty="0">
              <a:solidFill>
                <a:schemeClr val="tx1"/>
              </a:solidFill>
            </a:endParaRPr>
          </a:p>
          <a:p>
            <a:pPr>
              <a:defRPr sz="1000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4. </a:t>
            </a:r>
            <a:r>
              <a:rPr dirty="0" err="1">
                <a:solidFill>
                  <a:schemeClr val="tx1"/>
                </a:solidFill>
              </a:rPr>
              <a:t>Соотношение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суммы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кредита</a:t>
            </a:r>
            <a:r>
              <a:rPr dirty="0">
                <a:solidFill>
                  <a:schemeClr val="tx1"/>
                </a:solidFill>
              </a:rPr>
              <a:t> к </a:t>
            </a:r>
            <a:r>
              <a:rPr dirty="0" err="1">
                <a:solidFill>
                  <a:schemeClr val="tx1"/>
                </a:solidFill>
              </a:rPr>
              <a:t>доходу</a:t>
            </a:r>
            <a:endParaRPr dirty="0">
              <a:solidFill>
                <a:schemeClr val="tx1"/>
              </a:solidFill>
            </a:endParaRPr>
          </a:p>
          <a:p>
            <a:pPr>
              <a:defRPr sz="1000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5. </a:t>
            </a:r>
            <a:r>
              <a:rPr dirty="0" err="1">
                <a:solidFill>
                  <a:schemeClr val="tx1"/>
                </a:solidFill>
              </a:rPr>
              <a:t>Возраст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клиента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211890"/>
            <a:ext cx="5486400" cy="1419343"/>
          </a:xfrm>
          <a:prstGeom prst="rect">
            <a:avLst/>
          </a:prstGeom>
          <a:solidFill>
            <a:srgbClr val="FFF0E6"/>
          </a:solidFill>
          <a:ln>
            <a:solidFill>
              <a:srgbClr val="C8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ТОЧНОСТЬ ПРОГНОЗОВ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1100" dirty="0" err="1">
                <a:solidFill>
                  <a:schemeClr val="tx1"/>
                </a:solidFill>
                <a:latin typeface="Arial"/>
              </a:rPr>
              <a:t>Из</a:t>
            </a:r>
            <a:r>
              <a:rPr sz="1100" dirty="0">
                <a:solidFill>
                  <a:schemeClr val="tx1"/>
                </a:solidFill>
                <a:latin typeface="Arial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всех</a:t>
            </a:r>
            <a:r>
              <a:rPr sz="1100" dirty="0">
                <a:solidFill>
                  <a:schemeClr val="tx1"/>
                </a:solidFill>
                <a:latin typeface="Arial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клиентов</a:t>
            </a:r>
            <a:r>
              <a:rPr sz="1100" dirty="0">
                <a:solidFill>
                  <a:schemeClr val="tx1"/>
                </a:solidFill>
                <a:latin typeface="Arial"/>
              </a:rPr>
              <a:t>,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которых</a:t>
            </a:r>
            <a:r>
              <a:rPr sz="1100" dirty="0">
                <a:solidFill>
                  <a:schemeClr val="tx1"/>
                </a:solidFill>
                <a:latin typeface="Arial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модель</a:t>
            </a:r>
            <a:r>
              <a:rPr sz="1100" dirty="0">
                <a:solidFill>
                  <a:schemeClr val="tx1"/>
                </a:solidFill>
                <a:latin typeface="Arial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определила</a:t>
            </a:r>
            <a:r>
              <a:rPr sz="1100" dirty="0">
                <a:solidFill>
                  <a:schemeClr val="tx1"/>
                </a:solidFill>
                <a:latin typeface="Arial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как</a:t>
            </a:r>
            <a:r>
              <a:rPr sz="1100" dirty="0">
                <a:solidFill>
                  <a:schemeClr val="tx1"/>
                </a:solidFill>
                <a:latin typeface="Arial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/>
              </a:rPr>
              <a:t>рискованных</a:t>
            </a:r>
            <a:r>
              <a:rPr sz="1100" dirty="0">
                <a:solidFill>
                  <a:schemeClr val="tx1"/>
                </a:solidFill>
                <a:latin typeface="Arial"/>
              </a:rPr>
              <a:t>:</a:t>
            </a:r>
          </a:p>
          <a:p>
            <a:pPr>
              <a:defRPr sz="1100" b="1">
                <a:latin typeface="Arial"/>
              </a:defRPr>
            </a:pPr>
            <a:r>
              <a:rPr lang="ru-RU" sz="1100" dirty="0">
                <a:solidFill>
                  <a:schemeClr val="tx1"/>
                </a:solidFill>
                <a:latin typeface="Arial"/>
              </a:rPr>
              <a:t>• 34% действительно допустили дефолт</a:t>
            </a:r>
          </a:p>
          <a:p>
            <a:pPr>
              <a:defRPr sz="1100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Модель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нашла</a:t>
            </a:r>
            <a:r>
              <a:rPr dirty="0">
                <a:solidFill>
                  <a:schemeClr val="tx1"/>
                </a:solidFill>
              </a:rPr>
              <a:t> 41% </a:t>
            </a:r>
            <a:r>
              <a:rPr dirty="0" err="1">
                <a:solidFill>
                  <a:schemeClr val="tx1"/>
                </a:solidFill>
              </a:rPr>
              <a:t>от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всех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реальных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дефолтов</a:t>
            </a:r>
            <a:endParaRPr dirty="0">
              <a:solidFill>
                <a:schemeClr val="tx1"/>
              </a:solidFill>
            </a:endParaRPr>
          </a:p>
          <a:p>
            <a:pPr>
              <a:defRPr sz="1100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Общая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точность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различения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хороших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плохих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клиентов</a:t>
            </a:r>
            <a:r>
              <a:rPr dirty="0">
                <a:solidFill>
                  <a:schemeClr val="tx1"/>
                </a:solidFill>
              </a:rPr>
              <a:t>: 72%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775385"/>
            <a:ext cx="5486400" cy="1307230"/>
          </a:xfrm>
          <a:prstGeom prst="rect">
            <a:avLst/>
          </a:prstGeom>
          <a:solidFill>
            <a:srgbClr val="FFE6E6"/>
          </a:solidFill>
          <a:ln>
            <a:solidFill>
              <a:srgbClr val="C8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БИЗНЕС-ПРАВИЛА АВТООТКАЗА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Автоматический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отказ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defRPr sz="1000">
                <a:latin typeface="Arial"/>
              </a:defRPr>
            </a:pPr>
            <a:r>
              <a:rPr sz="1100" dirty="0">
                <a:solidFill>
                  <a:schemeClr val="tx1"/>
                </a:solidFill>
              </a:rPr>
              <a:t>•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Ежемесячный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платёж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50%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дохода</a:t>
            </a:r>
            <a:endParaRPr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1000">
                <a:latin typeface="Arial"/>
              </a:defRPr>
            </a:pPr>
            <a:r>
              <a:rPr sz="1100" dirty="0">
                <a:solidFill>
                  <a:schemeClr val="tx1"/>
                </a:solidFill>
              </a:rPr>
              <a:t>• </a:t>
            </a:r>
            <a:r>
              <a:rPr sz="1100" dirty="0" err="1">
                <a:solidFill>
                  <a:schemeClr val="tx1"/>
                </a:solidFill>
              </a:rPr>
              <a:t>Сумма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кредита</a:t>
            </a:r>
            <a:r>
              <a:rPr sz="1100" dirty="0">
                <a:solidFill>
                  <a:schemeClr val="tx1"/>
                </a:solidFill>
              </a:rPr>
              <a:t> &gt; 10× </a:t>
            </a:r>
            <a:r>
              <a:rPr sz="1100" dirty="0" err="1">
                <a:solidFill>
                  <a:schemeClr val="tx1"/>
                </a:solidFill>
              </a:rPr>
              <a:t>годового</a:t>
            </a:r>
            <a:r>
              <a:rPr sz="1100" dirty="0">
                <a:solidFill>
                  <a:schemeClr val="tx1"/>
                </a:solidFill>
              </a:rPr>
              <a:t> </a:t>
            </a:r>
            <a:r>
              <a:rPr sz="1100" dirty="0" err="1">
                <a:solidFill>
                  <a:schemeClr val="tx1"/>
                </a:solidFill>
              </a:rPr>
              <a:t>дохода</a:t>
            </a:r>
            <a:endParaRPr lang="ru-RU" sz="1100" dirty="0">
              <a:solidFill>
                <a:schemeClr val="tx1"/>
              </a:solidFill>
            </a:endParaRPr>
          </a:p>
          <a:p>
            <a:pPr>
              <a:defRPr sz="1000">
                <a:latin typeface="Arial"/>
              </a:defRPr>
            </a:pPr>
            <a:endParaRPr dirty="0">
              <a:solidFill>
                <a:schemeClr val="tx1"/>
              </a:solidFill>
            </a:endParaRPr>
          </a:p>
          <a:p>
            <a:pPr>
              <a:defRPr sz="1000" b="1">
                <a:latin typeface="Arial"/>
              </a:defRPr>
            </a:pPr>
            <a:r>
              <a:rPr dirty="0" err="1">
                <a:solidFill>
                  <a:schemeClr val="tx1"/>
                </a:solidFill>
              </a:rPr>
              <a:t>На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тесте</a:t>
            </a:r>
            <a:r>
              <a:rPr dirty="0">
                <a:solidFill>
                  <a:schemeClr val="tx1"/>
                </a:solidFill>
              </a:rPr>
              <a:t>: 4 </a:t>
            </a:r>
            <a:r>
              <a:rPr dirty="0" err="1">
                <a:solidFill>
                  <a:schemeClr val="tx1"/>
                </a:solidFill>
              </a:rPr>
              <a:t>клиента</a:t>
            </a:r>
            <a:r>
              <a:rPr dirty="0">
                <a:solidFill>
                  <a:schemeClr val="tx1"/>
                </a:solidFill>
              </a:rPr>
              <a:t> (1.2%) </a:t>
            </a:r>
            <a:r>
              <a:rPr dirty="0" err="1">
                <a:solidFill>
                  <a:schemeClr val="tx1"/>
                </a:solidFill>
              </a:rPr>
              <a:t>отправлены</a:t>
            </a:r>
            <a:r>
              <a:rPr dirty="0">
                <a:solidFill>
                  <a:schemeClr val="tx1"/>
                </a:solidFill>
              </a:rPr>
              <a:t> в </a:t>
            </a:r>
            <a:r>
              <a:rPr dirty="0" err="1">
                <a:solidFill>
                  <a:schemeClr val="tx1"/>
                </a:solidFill>
              </a:rPr>
              <a:t>автоотказ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5483126"/>
            <a:ext cx="5486400" cy="1097280"/>
          </a:xfrm>
          <a:prstGeom prst="rect">
            <a:avLst/>
          </a:prstGeom>
          <a:solidFill>
            <a:srgbClr val="F0F0FF"/>
          </a:solidFill>
          <a:ln>
            <a:solidFill>
              <a:srgbClr val="64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СТАБИЛЬНОСТЬ ВО ВРЕМЕНИ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показывает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стабильные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результаты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протяжении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всех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12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месяцев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(PSI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скор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0.028)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49477"/>
            <a:ext cx="5486400" cy="1066787"/>
          </a:xfrm>
          <a:prstGeom prst="rect">
            <a:avLst/>
          </a:prstGeom>
          <a:solidFill>
            <a:srgbClr val="F5FFF5"/>
          </a:solidFill>
          <a:ln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ПРАКТИЧЕСКОЕ ПРИМЕНЕНИЕ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Использовать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бизнес-правила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как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двухуровневую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систему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принятия</a:t>
            </a:r>
            <a:r>
              <a:rPr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решений</a:t>
            </a:r>
            <a:endParaRPr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9082" y="6610108"/>
            <a:ext cx="448071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Arial"/>
              </a:defRPr>
            </a:pPr>
            <a:r>
              <a:rPr dirty="0" err="1"/>
              <a:t>Данные</a:t>
            </a:r>
            <a:r>
              <a:rPr dirty="0"/>
              <a:t>: 1723 </a:t>
            </a:r>
            <a:r>
              <a:rPr dirty="0" err="1"/>
              <a:t>заявки</a:t>
            </a:r>
            <a:r>
              <a:rPr dirty="0"/>
              <a:t>, </a:t>
            </a:r>
            <a:r>
              <a:rPr dirty="0" err="1"/>
              <a:t>период</a:t>
            </a:r>
            <a:r>
              <a:rPr dirty="0"/>
              <a:t>: 12 </a:t>
            </a:r>
            <a:r>
              <a:rPr dirty="0" err="1"/>
              <a:t>месяцев</a:t>
            </a:r>
            <a:r>
              <a:rPr dirty="0"/>
              <a:t> | </a:t>
            </a:r>
            <a:r>
              <a:rPr dirty="0" err="1"/>
              <a:t>Модель</a:t>
            </a:r>
            <a:r>
              <a:rPr dirty="0"/>
              <a:t>: </a:t>
            </a:r>
            <a:r>
              <a:rPr dirty="0" err="1"/>
              <a:t>CatBoost</a:t>
            </a:r>
            <a:r>
              <a:rPr dirty="0"/>
              <a:t> + </a:t>
            </a:r>
            <a:r>
              <a:rPr dirty="0" err="1"/>
              <a:t>бизнес-правил</a:t>
            </a:r>
            <a:r>
              <a:rPr lang="ru-RU" dirty="0"/>
              <a:t>а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229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Tikhon Selifanov</cp:lastModifiedBy>
  <cp:revision>3</cp:revision>
  <dcterms:created xsi:type="dcterms:W3CDTF">2013-01-27T09:14:16Z</dcterms:created>
  <dcterms:modified xsi:type="dcterms:W3CDTF">2026-07-20T09:04:06Z</dcterms:modified>
  <cp:category/>
</cp:coreProperties>
</file>